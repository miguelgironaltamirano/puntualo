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160">
                <a:solidFill>
                  <a:srgbClr val="6B7789"/>
                </a:solidFill>
                <a:latin typeface="Segoe UI"/>
              </a:rPr>
              <a:t>PUNTUALO · MÉTRICAS DE CALIDAD   /   SLIDE 1 DE 3   /   MEDIDO 15 JUL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spc="-30">
                <a:solidFill>
                  <a:srgbClr val="0F1620"/>
                </a:solidFill>
                <a:latin typeface="Segoe UI"/>
              </a:rPr>
              <a:t>La suite está 100 % verde y el rendimiento aguanta la carga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656"/>
                </a:solidFill>
                <a:latin typeface="Segoe UI"/>
              </a:rPr>
              <a:t>Panorama de la calidad medida: pruebas automatizadas, aceptación de extremo a extremo, componentes de frontend, rendimiento bajo carga y satisfacción de usuario.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514600"/>
            <a:ext cx="5428335" cy="1828800"/>
          </a:xfrm>
          <a:prstGeom prst="roundRect">
            <a:avLst>
              <a:gd name="adj" fmla="val 6000"/>
            </a:avLst>
          </a:prstGeom>
          <a:solidFill>
            <a:srgbClr val="D7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15768"/>
            <a:ext cx="497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spc="90">
                <a:solidFill>
                  <a:srgbClr val="6B7789"/>
                </a:solidFill>
                <a:latin typeface="Segoe UI"/>
              </a:rPr>
              <a:t>SUITE BACKEND (PYTEST)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90088"/>
            <a:ext cx="5062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spc="-50">
                <a:solidFill>
                  <a:srgbClr val="0F1620"/>
                </a:solidFill>
                <a:latin typeface="Segoe UI"/>
              </a:rPr>
              <a:t>96</a:t>
            </a:r>
            <a:r>
              <a:rPr sz="1500" b="1">
                <a:solidFill>
                  <a:srgbClr val="6B7789"/>
                </a:solidFill>
                <a:latin typeface="Segoe UI"/>
              </a:rPr>
              <a:t> 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3611879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648456"/>
            <a:ext cx="1920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9D57"/>
                </a:solidFill>
                <a:latin typeface="Segoe UI"/>
              </a:rPr>
              <a:t>● 0 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95928"/>
            <a:ext cx="4971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656"/>
                </a:solidFill>
                <a:latin typeface="Segoe UI"/>
              </a:rPr>
              <a:t>29 skipped (esqueletos) · 100 % verde de lo ejecutado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2514600"/>
            <a:ext cx="2613583" cy="18288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2463" y="2715768"/>
            <a:ext cx="21563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spc="90">
                <a:solidFill>
                  <a:srgbClr val="6B7789"/>
                </a:solidFill>
                <a:latin typeface="Segoe UI"/>
              </a:rPr>
              <a:t>COBERTURA DE LÍNEAS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4175" y="2990088"/>
            <a:ext cx="224782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spc="-50">
                <a:solidFill>
                  <a:srgbClr val="0F1620"/>
                </a:solidFill>
                <a:latin typeface="Segoe UI"/>
              </a:rPr>
              <a:t>51</a:t>
            </a:r>
            <a:r>
              <a:rPr sz="1500" b="1">
                <a:solidFill>
                  <a:srgbClr val="6B7789"/>
                </a:solidFill>
                <a:latin typeface="Segoe UI"/>
              </a:rPr>
              <a:t> 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2463" y="3630168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656"/>
                </a:solidFill>
                <a:latin typeface="Segoe UI"/>
              </a:rPr>
              <a:t>Global. Críticos ya sobre umbral (slide 2).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1183" y="2514600"/>
            <a:ext cx="2613583" cy="18288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7215" y="2715768"/>
            <a:ext cx="21563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spc="90">
                <a:solidFill>
                  <a:srgbClr val="6B7789"/>
                </a:solidFill>
                <a:latin typeface="Segoe UI"/>
              </a:rPr>
              <a:t>SATISFACCIÓN · SUS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927" y="2990088"/>
            <a:ext cx="224782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spc="-50">
                <a:solidFill>
                  <a:srgbClr val="0F1620"/>
                </a:solidFill>
                <a:latin typeface="Segoe UI"/>
              </a:rPr>
              <a:t>87.5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48927" y="3611879"/>
            <a:ext cx="2066543" cy="292608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8927" y="3648456"/>
            <a:ext cx="2066543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F9D57"/>
                </a:solidFill>
                <a:latin typeface="Segoe UI"/>
              </a:rPr>
              <a:t>● Excelente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215" y="3995928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656"/>
                </a:solidFill>
                <a:latin typeface="Segoe UI"/>
              </a:rPr>
              <a:t>&gt;68 = sobre el promedio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44568"/>
            <a:ext cx="2613583" cy="16916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45736"/>
            <a:ext cx="21563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spc="90">
                <a:solidFill>
                  <a:srgbClr val="6B7789"/>
                </a:solidFill>
                <a:latin typeface="Segoe UI"/>
              </a:rPr>
              <a:t>E2E · PLAYWRIGHT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020056"/>
            <a:ext cx="224782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spc="-50">
                <a:solidFill>
                  <a:srgbClr val="0F1620"/>
                </a:solidFill>
                <a:latin typeface="Segoe UI"/>
              </a:rPr>
              <a:t>3</a:t>
            </a:r>
            <a:r>
              <a:rPr sz="1500" b="1">
                <a:solidFill>
                  <a:srgbClr val="6B7789"/>
                </a:solidFill>
                <a:latin typeface="Segoe UI"/>
              </a:rPr>
              <a:t>  /3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22976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656"/>
                </a:solidFill>
                <a:latin typeface="Segoe UI"/>
              </a:rPr>
              <a:t>Login: render · inválido→error · válido→/teachers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1679" y="4544568"/>
            <a:ext cx="2613583" cy="16916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7711" y="4745736"/>
            <a:ext cx="21563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spc="90">
                <a:solidFill>
                  <a:srgbClr val="6B7789"/>
                </a:solidFill>
                <a:latin typeface="Segoe UI"/>
              </a:rPr>
              <a:t>COMPONENTES · VITEST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9423" y="5020056"/>
            <a:ext cx="224782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spc="-50">
                <a:solidFill>
                  <a:srgbClr val="0F1620"/>
                </a:solidFill>
                <a:latin typeface="Segoe UI"/>
              </a:rPr>
              <a:t>8</a:t>
            </a:r>
            <a:r>
              <a:rPr sz="1500" b="1">
                <a:solidFill>
                  <a:srgbClr val="6B7789"/>
                </a:solidFill>
                <a:latin typeface="Segoe UI"/>
              </a:rPr>
              <a:t>  /8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7711" y="5522976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656"/>
                </a:solidFill>
                <a:latin typeface="Segoe UI"/>
              </a:rPr>
              <a:t>Pagination · ResultsInfo · useAuthStore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6431" y="4544568"/>
            <a:ext cx="2613583" cy="16916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2463" y="4745736"/>
            <a:ext cx="21563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spc="90">
                <a:solidFill>
                  <a:srgbClr val="6B7789"/>
                </a:solidFill>
                <a:latin typeface="Segoe UI"/>
              </a:rPr>
              <a:t>LATENCIA P95 · CARGA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4175" y="5020056"/>
            <a:ext cx="224782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spc="-50">
                <a:solidFill>
                  <a:srgbClr val="0F1620"/>
                </a:solidFill>
                <a:latin typeface="Segoe UI"/>
              </a:rPr>
              <a:t>1.4</a:t>
            </a:r>
            <a:r>
              <a:rPr sz="1500" b="1">
                <a:solidFill>
                  <a:srgbClr val="6B7789"/>
                </a:solidFill>
                <a:latin typeface="Segoe UI"/>
              </a:rPr>
              <a:t> 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2463" y="5522976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656"/>
                </a:solidFill>
                <a:latin typeface="Segoe UI"/>
              </a:rPr>
              <a:t>Locust · 50 usuarios · cache caliente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11183" y="4544568"/>
            <a:ext cx="2613583" cy="169164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7215" y="4745736"/>
            <a:ext cx="21563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spc="90">
                <a:solidFill>
                  <a:srgbClr val="6B7789"/>
                </a:solidFill>
                <a:latin typeface="Segoe UI"/>
              </a:rPr>
              <a:t>TASA DE ERROR · CARGA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8927" y="5020056"/>
            <a:ext cx="224782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spc="-50">
                <a:solidFill>
                  <a:srgbClr val="0F1620"/>
                </a:solidFill>
                <a:latin typeface="Segoe UI"/>
              </a:rPr>
              <a:t>0</a:t>
            </a:r>
            <a:r>
              <a:rPr sz="1500" b="1">
                <a:solidFill>
                  <a:srgbClr val="6B7789"/>
                </a:solidFill>
                <a:latin typeface="Segoe UI"/>
              </a:rPr>
              <a:t> 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48927" y="5504688"/>
            <a:ext cx="2156383" cy="292608"/>
          </a:xfrm>
          <a:prstGeom prst="roundRect">
            <a:avLst>
              <a:gd name="adj" fmla="val 50000"/>
            </a:avLst>
          </a:prstGeom>
          <a:solidFill>
            <a:srgbClr val="F6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48927" y="5541264"/>
            <a:ext cx="2156383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98A12"/>
                </a:solidFill>
                <a:latin typeface="Segoe UI"/>
              </a:rPr>
              <a:t>● 1% en frío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7215" y="5888736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656"/>
                </a:solidFill>
                <a:latin typeface="Segoe UI"/>
              </a:rPr>
              <a:t>14.64 req/s de throughput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F1620"/>
                </a:solidFill>
                <a:latin typeface="Segoe UI"/>
              </a:rPr>
              <a:t>Puntualo · QA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7395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789"/>
                </a:solidFill>
                <a:latin typeface="Segoe UI"/>
              </a:rPr>
              <a:t>Reportes: reports/ (junit.xml, coverage/) · Locust: results/reporte.html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160">
                <a:solidFill>
                  <a:srgbClr val="6B7789"/>
                </a:solidFill>
                <a:latin typeface="Segoe UI"/>
              </a:rPr>
              <a:t>PUNTUALO · MÉTRICAS DE CALIDAD   /   SLIDE 2 DE 3   /   COBERTURA Y DEFECTOS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spc="-30">
                <a:solidFill>
                  <a:srgbClr val="0F1620"/>
                </a:solidFill>
                <a:latin typeface="Segoe UI"/>
              </a:rPr>
              <a:t>Cobertura concentrada donde está el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656"/>
                </a:solidFill>
                <a:latin typeface="Segoe UI"/>
              </a:rPr>
              <a:t>Los módulos críticos (seguridad, autenticación, rate limiter, moderación) ya superan el umbral. El déficit se concentra en servicios aún sin suite propia.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1460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4656"/>
                </a:solidFill>
                <a:latin typeface="Segoe UI"/>
              </a:rPr>
              <a:t>core/security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542032"/>
            <a:ext cx="4480560" cy="256032"/>
          </a:xfrm>
          <a:prstGeom prst="roundRect">
            <a:avLst>
              <a:gd name="adj" fmla="val 28000"/>
            </a:avLst>
          </a:prstGeom>
          <a:solidFill>
            <a:srgbClr val="EEF2F7"/>
          </a:solidFill>
          <a:ln w="952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80" y="2542032"/>
            <a:ext cx="4480560" cy="256032"/>
          </a:xfrm>
          <a:prstGeom prst="roundRect">
            <a:avLst>
              <a:gd name="adj" fmla="val 28000"/>
            </a:avLst>
          </a:prstGeom>
          <a:solidFill>
            <a:srgbClr val="1F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251460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620"/>
                </a:solidFill>
                <a:latin typeface="Segoe U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4894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4656"/>
                </a:solidFill>
                <a:latin typeface="Segoe UI"/>
              </a:rPr>
              <a:t>rate_limiter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976372"/>
            <a:ext cx="4480560" cy="256032"/>
          </a:xfrm>
          <a:prstGeom prst="roundRect">
            <a:avLst>
              <a:gd name="adj" fmla="val 28000"/>
            </a:avLst>
          </a:prstGeom>
          <a:solidFill>
            <a:srgbClr val="EEF2F7"/>
          </a:solidFill>
          <a:ln w="952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68880" y="2976372"/>
            <a:ext cx="4211726" cy="256032"/>
          </a:xfrm>
          <a:prstGeom prst="roundRect">
            <a:avLst>
              <a:gd name="adj" fmla="val 28000"/>
            </a:avLst>
          </a:prstGeom>
          <a:solidFill>
            <a:srgbClr val="1F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294894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620"/>
                </a:solidFill>
                <a:latin typeface="Segoe UI"/>
              </a:rPr>
              <a:t>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38328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4656"/>
                </a:solidFill>
                <a:latin typeface="Segoe UI"/>
              </a:rPr>
              <a:t>auth/schemas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3410712"/>
            <a:ext cx="4480560" cy="256032"/>
          </a:xfrm>
          <a:prstGeom prst="roundRect">
            <a:avLst>
              <a:gd name="adj" fmla="val 28000"/>
            </a:avLst>
          </a:prstGeom>
          <a:solidFill>
            <a:srgbClr val="EEF2F7"/>
          </a:solidFill>
          <a:ln w="952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68880" y="3410712"/>
            <a:ext cx="4032504" cy="256032"/>
          </a:xfrm>
          <a:prstGeom prst="roundRect">
            <a:avLst>
              <a:gd name="adj" fmla="val 28000"/>
            </a:avLst>
          </a:prstGeom>
          <a:solidFill>
            <a:srgbClr val="1F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338328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620"/>
                </a:solidFill>
                <a:latin typeface="Segoe UI"/>
              </a:rPr>
              <a:t>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1762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4656"/>
                </a:solidFill>
                <a:latin typeface="Segoe UI"/>
              </a:rPr>
              <a:t>auth/router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3845052"/>
            <a:ext cx="4480560" cy="256032"/>
          </a:xfrm>
          <a:prstGeom prst="roundRect">
            <a:avLst>
              <a:gd name="adj" fmla="val 28000"/>
            </a:avLst>
          </a:prstGeom>
          <a:solidFill>
            <a:srgbClr val="EEF2F7"/>
          </a:solidFill>
          <a:ln w="952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68880" y="3845052"/>
            <a:ext cx="3942892" cy="256032"/>
          </a:xfrm>
          <a:prstGeom prst="roundRect">
            <a:avLst>
              <a:gd name="adj" fmla="val 28000"/>
            </a:avLst>
          </a:prstGeom>
          <a:solidFill>
            <a:srgbClr val="1F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381762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620"/>
                </a:solidFill>
                <a:latin typeface="Segoe UI"/>
              </a:rPr>
              <a:t>88%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25196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A4656"/>
                </a:solidFill>
                <a:latin typeface="Segoe UI"/>
              </a:rPr>
              <a:t>moderation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4279392"/>
            <a:ext cx="4480560" cy="256032"/>
          </a:xfrm>
          <a:prstGeom prst="roundRect">
            <a:avLst>
              <a:gd name="adj" fmla="val 28000"/>
            </a:avLst>
          </a:prstGeom>
          <a:solidFill>
            <a:srgbClr val="EEF2F7"/>
          </a:solidFill>
          <a:ln w="952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68880" y="4279392"/>
            <a:ext cx="3136392" cy="256032"/>
          </a:xfrm>
          <a:prstGeom prst="roundRect">
            <a:avLst>
              <a:gd name="adj" fmla="val 28000"/>
            </a:avLst>
          </a:prstGeom>
          <a:solidFill>
            <a:srgbClr val="1F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8" y="425196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620"/>
                </a:solidFill>
                <a:latin typeface="Segoe UI"/>
              </a:rPr>
              <a:t>70%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68630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7789"/>
                </a:solidFill>
                <a:latin typeface="Segoe UI"/>
              </a:rPr>
              <a:t>auth/service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4713732"/>
            <a:ext cx="4480560" cy="256032"/>
          </a:xfrm>
          <a:prstGeom prst="roundRect">
            <a:avLst>
              <a:gd name="adj" fmla="val 28000"/>
            </a:avLst>
          </a:prstGeom>
          <a:solidFill>
            <a:srgbClr val="EEF2F7"/>
          </a:solidFill>
          <a:ln w="952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68880" y="4713732"/>
            <a:ext cx="2105863" cy="256032"/>
          </a:xfrm>
          <a:prstGeom prst="roundRect">
            <a:avLst>
              <a:gd name="adj" fmla="val 28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9168" y="468630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620"/>
                </a:solidFill>
                <a:latin typeface="Segoe UI"/>
              </a:rPr>
              <a:t>47%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12064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7789"/>
                </a:solidFill>
                <a:latin typeface="Segoe UI"/>
              </a:rPr>
              <a:t>report_service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" y="5148072"/>
            <a:ext cx="4480560" cy="256032"/>
          </a:xfrm>
          <a:prstGeom prst="roundRect">
            <a:avLst>
              <a:gd name="adj" fmla="val 28000"/>
            </a:avLst>
          </a:prstGeom>
          <a:solidFill>
            <a:srgbClr val="EEF2F7"/>
          </a:solidFill>
          <a:ln w="952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468880" y="5148072"/>
            <a:ext cx="1388973" cy="256032"/>
          </a:xfrm>
          <a:prstGeom prst="roundRect">
            <a:avLst>
              <a:gd name="adj" fmla="val 28000"/>
            </a:avLst>
          </a:prstGeom>
          <a:solidFill>
            <a:srgbClr val="CF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9168" y="512064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620"/>
                </a:solidFill>
                <a:latin typeface="Segoe UI"/>
              </a:rPr>
              <a:t>31%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55498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B7789"/>
                </a:solidFill>
                <a:latin typeface="Segoe UI"/>
              </a:rPr>
              <a:t>professors/service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5582412"/>
            <a:ext cx="4480560" cy="256032"/>
          </a:xfrm>
          <a:prstGeom prst="roundRect">
            <a:avLst>
              <a:gd name="adj" fmla="val 28000"/>
            </a:avLst>
          </a:prstGeom>
          <a:solidFill>
            <a:srgbClr val="EEF2F7"/>
          </a:solidFill>
          <a:ln w="952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468880" y="5582412"/>
            <a:ext cx="1164945" cy="256032"/>
          </a:xfrm>
          <a:prstGeom prst="roundRect">
            <a:avLst>
              <a:gd name="adj" fmla="val 28000"/>
            </a:avLst>
          </a:prstGeom>
          <a:solidFill>
            <a:srgbClr val="CF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555498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F1620"/>
                </a:solidFill>
                <a:latin typeface="Segoe UI"/>
              </a:rPr>
              <a:t>26%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97956" y="2514600"/>
            <a:ext cx="14630" cy="340614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56632" y="5902452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B7789"/>
                </a:solidFill>
                <a:latin typeface="Segoe UI"/>
              </a:rPr>
              <a:t>umbral 70%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6291072"/>
            <a:ext cx="256032" cy="109728"/>
          </a:xfrm>
          <a:prstGeom prst="roundRect">
            <a:avLst>
              <a:gd name="adj" fmla="val 30000"/>
            </a:avLst>
          </a:prstGeom>
          <a:solidFill>
            <a:srgbClr val="1F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6245352"/>
            <a:ext cx="10972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789"/>
                </a:solidFill>
                <a:latin typeface="Segoe UI"/>
              </a:rPr>
              <a:t>≥ 70%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84248" y="6291072"/>
            <a:ext cx="256032" cy="109728"/>
          </a:xfrm>
          <a:prstGeom prst="roundRect">
            <a:avLst>
              <a:gd name="adj" fmla="val 3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13432" y="6245352"/>
            <a:ext cx="10972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789"/>
                </a:solidFill>
                <a:latin typeface="Segoe UI"/>
              </a:rPr>
              <a:t>40–69%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6291072"/>
            <a:ext cx="256032" cy="109728"/>
          </a:xfrm>
          <a:prstGeom prst="roundRect">
            <a:avLst>
              <a:gd name="adj" fmla="val 30000"/>
            </a:avLst>
          </a:prstGeom>
          <a:solidFill>
            <a:srgbClr val="CF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0752" y="6245352"/>
            <a:ext cx="10972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789"/>
                </a:solidFill>
                <a:latin typeface="Segoe UI"/>
              </a:rPr>
              <a:t>&lt; 40%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8" y="6245352"/>
            <a:ext cx="27432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789"/>
                </a:solidFill>
                <a:latin typeface="Segoe UI"/>
              </a:rPr>
              <a:t>track = 100% del total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395728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spc="120">
                <a:solidFill>
                  <a:srgbClr val="6B7789"/>
                </a:solidFill>
                <a:latin typeface="Segoe UI"/>
              </a:rPr>
              <a:t>DEFECTOS ABIERTOS · DENSIDAD 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35240" y="2743200"/>
            <a:ext cx="3977639" cy="1170432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635240" y="2743200"/>
            <a:ext cx="54864" cy="1170432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91271" y="28895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40">
                <a:solidFill>
                  <a:srgbClr val="0F1620"/>
                </a:solidFill>
                <a:latin typeface="Segoe UI"/>
              </a:rPr>
              <a:t>D-1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20072" y="287121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6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20072" y="2889504"/>
            <a:ext cx="1691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98A12"/>
                </a:solidFill>
                <a:latin typeface="Segoe UI"/>
              </a:rPr>
              <a:t>● Media · observado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1271" y="3255264"/>
            <a:ext cx="35204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4656"/>
                </a:solidFill>
                <a:latin typeface="Segoe UI"/>
              </a:rPr>
              <a:t>500s intermitentes (~1%) en endpoints de BD con cache frío bajo carga. Mitigación: precalentar cache + ampliar pool.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35240" y="4041648"/>
            <a:ext cx="3977639" cy="1170432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35240" y="4041648"/>
            <a:ext cx="54864" cy="1170432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91271" y="4187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spc="40">
                <a:solidFill>
                  <a:srgbClr val="0F1620"/>
                </a:solidFill>
                <a:latin typeface="Segoe UI"/>
              </a:rPr>
              <a:t>D-2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20072" y="4169663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6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20072" y="4187952"/>
            <a:ext cx="1691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98A12"/>
                </a:solidFill>
                <a:latin typeface="Segoe UI"/>
              </a:rPr>
              <a:t>● Media · observado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91271" y="4553712"/>
            <a:ext cx="35204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4656"/>
                </a:solidFill>
                <a:latin typeface="Segoe UI"/>
              </a:rPr>
              <a:t>Degradación de latencia por pool de 14 conexiones. Decisión: subir workers Uvicorn y DB_POOL_SIZE.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5349240"/>
            <a:ext cx="3977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F1620"/>
                </a:solidFill>
                <a:latin typeface="Segoe UI"/>
              </a:rPr>
              <a:t>Cuello de botella: </a:t>
            </a:r>
            <a:r>
              <a:rPr sz="1050" b="0">
                <a:solidFill>
                  <a:srgbClr val="6B7789"/>
                </a:solidFill>
                <a:latin typeface="Segoe UI"/>
              </a:rPr>
              <a:t>la BD. Ambos defectos apuntan al mismo origen y desaparecen con cache caliente — riesgo acotado.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F1620"/>
                </a:solidFill>
                <a:latin typeface="Segoe UI"/>
              </a:rPr>
              <a:t>Puntualo · QA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0" y="647395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789"/>
                </a:solidFill>
                <a:latin typeface="Segoe UI"/>
              </a:rPr>
              <a:t>pytest-cov · 125 casos (96/29/0) · test_report_service.py excluido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spc="160">
                <a:solidFill>
                  <a:srgbClr val="6B7789"/>
                </a:solidFill>
                <a:latin typeface="Segoe UI"/>
              </a:rPr>
              <a:t>PUNTUALO · MÉTRICAS DE CALIDAD   /   SLIDE 3 DE 3   /   INTERPRETACIÓN Y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spc="-30">
                <a:solidFill>
                  <a:srgbClr val="0F1620"/>
                </a:solidFill>
                <a:latin typeface="Segoe UI"/>
              </a:rPr>
              <a:t>De la métrica a la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656"/>
                </a:solidFill>
                <a:latin typeface="Segoe UI"/>
              </a:rPr>
              <a:t>Cada número traducido en una acción concreta. El riesgo está acotado y priorizado; no hay bloqueantes para la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23160"/>
            <a:ext cx="5391759" cy="17830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5391759" cy="54864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606040"/>
            <a:ext cx="2695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spc="-10">
                <a:solidFill>
                  <a:srgbClr val="0F1620"/>
                </a:solidFill>
                <a:latin typeface="Segoe UI"/>
              </a:rPr>
              <a:t>Rendimiento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3219" y="2642615"/>
            <a:ext cx="2421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789"/>
                </a:solidFill>
                <a:latin typeface="Segoe UI"/>
              </a:rPr>
              <a:t>p95 1.4 s · 14.64 req/s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990088"/>
            <a:ext cx="4843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4656"/>
                </a:solidFill>
                <a:latin typeface="Segoe UI"/>
              </a:rPr>
              <a:t>El cuello de botella es la BD: pool de 14 conexiones. La latencia se degrada en los endpoints que la tocan.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7" y="3639311"/>
            <a:ext cx="4843119" cy="7315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703320"/>
            <a:ext cx="484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8F83"/>
                </a:solidFill>
                <a:latin typeface="Segoe UI"/>
              </a:rPr>
              <a:t>→  </a:t>
            </a:r>
            <a:r>
              <a:rPr sz="1050" b="0">
                <a:solidFill>
                  <a:srgbClr val="0F1620"/>
                </a:solidFill>
                <a:latin typeface="Segoe UI"/>
              </a:rPr>
              <a:t>Subir workers de Uvicorn y DB_POOL_SIZE; cachear los listados pesados.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423160"/>
            <a:ext cx="5391759" cy="17830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2423160"/>
            <a:ext cx="5391759" cy="54864"/>
          </a:xfrm>
          <a:prstGeom prst="roundRect">
            <a:avLst>
              <a:gd name="adj" fmla="val 50000"/>
            </a:avLst>
          </a:prstGeom>
          <a:solidFill>
            <a:srgbClr val="1F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2695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spc="-10">
                <a:solidFill>
                  <a:srgbClr val="0F1620"/>
                </a:solidFill>
                <a:latin typeface="Segoe UI"/>
              </a:rPr>
              <a:t>Fiabilidad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299" y="2642615"/>
            <a:ext cx="2421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789"/>
                </a:solidFill>
                <a:latin typeface="Segoe UI"/>
              </a:rPr>
              <a:t>0% error · 1% en frío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990088"/>
            <a:ext cx="4843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4656"/>
                </a:solidFill>
                <a:latin typeface="Segoe UI"/>
              </a:rPr>
              <a:t>Los 500s solo aparecen con cache frío (~1%). Con cache caliente, 0% de error sobre 50 usuarios.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7327" y="3639311"/>
            <a:ext cx="4843119" cy="7315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7327" y="3703320"/>
            <a:ext cx="484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8F83"/>
                </a:solidFill>
                <a:latin typeface="Segoe UI"/>
              </a:rPr>
              <a:t>→  </a:t>
            </a:r>
            <a:r>
              <a:rPr sz="1050" b="0">
                <a:solidFill>
                  <a:srgbClr val="0F1620"/>
                </a:solidFill>
                <a:latin typeface="Segoe UI"/>
              </a:rPr>
              <a:t>Precalentar el cache en el deploy para eliminar el pico inicial.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2272"/>
            <a:ext cx="5391759" cy="17830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4462272"/>
            <a:ext cx="5391759" cy="54864"/>
          </a:xfrm>
          <a:prstGeom prst="roundRect">
            <a:avLst>
              <a:gd name="adj" fmla="val 50000"/>
            </a:avLst>
          </a:prstGeom>
          <a:solidFill>
            <a:srgbClr val="0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645152"/>
            <a:ext cx="2695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spc="-10">
                <a:solidFill>
                  <a:srgbClr val="0F1620"/>
                </a:solidFill>
                <a:latin typeface="Segoe UI"/>
              </a:rPr>
              <a:t>Cobertura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3219" y="4681728"/>
            <a:ext cx="2421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789"/>
                </a:solidFill>
                <a:latin typeface="Segoe UI"/>
              </a:rPr>
              <a:t>51% global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029200"/>
            <a:ext cx="4843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4656"/>
                </a:solidFill>
                <a:latin typeface="Segoe UI"/>
              </a:rPr>
              <a:t>Los módulos de mayor riesgo ya están cubiertos. El déficit está en servicios sin suite propia y tareas Celery.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7" y="5678424"/>
            <a:ext cx="4843119" cy="7315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5742432"/>
            <a:ext cx="484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8F83"/>
                </a:solidFill>
                <a:latin typeface="Segoe UI"/>
              </a:rPr>
              <a:t>→  </a:t>
            </a:r>
            <a:r>
              <a:rPr sz="1050" b="0">
                <a:solidFill>
                  <a:srgbClr val="0F1620"/>
                </a:solidFill>
                <a:latin typeface="Segoe UI"/>
              </a:rPr>
              <a:t>Priorizar casos de report_service y professors/service en la próxima iteración.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007" y="4462272"/>
            <a:ext cx="5391759" cy="178308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33007" y="4462272"/>
            <a:ext cx="5391759" cy="54864"/>
          </a:xfrm>
          <a:prstGeom prst="roundRect">
            <a:avLst>
              <a:gd name="adj" fmla="val 50000"/>
            </a:avLst>
          </a:prstGeom>
          <a:solidFill>
            <a:srgbClr val="1F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7327" y="4645152"/>
            <a:ext cx="2695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spc="-10">
                <a:solidFill>
                  <a:srgbClr val="0F1620"/>
                </a:solidFill>
                <a:latin typeface="Segoe UI"/>
              </a:rPr>
              <a:t>Usabilidad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299" y="4681728"/>
            <a:ext cx="2421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7789"/>
                </a:solidFill>
                <a:latin typeface="Segoe UI"/>
              </a:rPr>
              <a:t>SUS 87.5 · 1.0 errores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327" y="5029200"/>
            <a:ext cx="48431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4656"/>
                </a:solidFill>
                <a:latin typeface="Segoe UI"/>
              </a:rPr>
              <a:t>SUS 87.5/100 ("Excelente") valida los flujos del estudiante; los errores de usuario son bajos.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7327" y="5678424"/>
            <a:ext cx="4843119" cy="7315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327" y="5742432"/>
            <a:ext cx="48431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8F83"/>
                </a:solidFill>
                <a:latin typeface="Segoe UI"/>
              </a:rPr>
              <a:t>→  </a:t>
            </a:r>
            <a:r>
              <a:rPr sz="1050" b="0">
                <a:solidFill>
                  <a:srgbClr val="0F1620"/>
                </a:solidFill>
                <a:latin typeface="Segoe UI"/>
              </a:rPr>
              <a:t>Sin acción urgente. Mantener los flujos actuales y monitorear.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419088"/>
            <a:ext cx="11057839" cy="10972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F1620"/>
                </a:solidFill>
                <a:latin typeface="Segoe UI"/>
              </a:rPr>
              <a:t>Puntualo · QA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789"/>
                </a:solidFill>
                <a:latin typeface="Segoe UI"/>
              </a:rPr>
              <a:t>Interpretación completa en §7.3 de 07_documentacion_y_metricas.md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